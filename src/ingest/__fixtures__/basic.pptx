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</Types>
</file>

<file path=_rels/.rels><?xml version="1.0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</p:sldIdLst>
  <p:sldSz cx="12192000" cy="6858000"/>
</p:presentation>
</file>

<file path=ppt/_rels/presentation.xml.rels><?xml version="1.0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barChart>
        <c:barDir val="col"/>
        <c:ser>
          <c:idx val="0"/>
          <c:order val="0"/>
          <c:tx>
            <c:strRef>
              <c:f>s</c:f>
              <c:strCache>
                <c:pt idx="0">
                  <c:v>Share</c:v>
                </c:pt>
              </c:strCache>
            </c:strRef>
          </c:tx>
          <c:cat>
            <c:strRef>
              <c:f>c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v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</c:barChart>
    </c:plotArea>
  </c:chart>
</c:chartSpace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Open with the EMEA anecdote.</a:t>
            </a:r>
          </a:p>
        </p:txBody>
      </p:sp>
    </p:spTree>
  </p:cSld>
</p:notes>
</file>

<file path=ppt/slideLayouts/_rels/slideLayout1.xml.rels><?xml version="1.0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/>
        </p:txBody>
      </p:sp>
      <p:sp>
        <p:nvSpPr>
          <p:cNvPr id="3" name="Body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/>
        </p:txBody>
      </p:sp>
    </p:spTree>
  </p:cSld>
</p:sldLayout>
</file>

<file path=ppt/slideMasters/_rels/slideMaster1.xml.rels><?xml version="1.0"?>
<Relationships xmlns="http://schemas.openxmlformats.org/package/2006/relationships">
<Relationship Id="rId1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algn="l">
        <a:defRPr sz="4000" b="1">
          <a:solidFill>
            <a:schemeClr val="tx2"/>
          </a:solidFill>
          <a:latin typeface="+mj-lt"/>
        </a:defRPr>
      </a:lvl1pPr>
    </p:titleStyle>
    <p:bodyStyle>
      <a:lvl1pPr marL="342900">
        <a:buChar char="•"/>
        <a:defRPr sz="2400">
          <a:solidFill>
            <a:schemeClr val="tx1"/>
          </a:solidFill>
          <a:latin typeface="+mn-lt"/>
        </a:defRPr>
      </a:lvl1pPr>
      <a:lvl2pPr marL="742950">
        <a:buChar char="–"/>
        <a:defRPr sz="2000">
          <a:solidFill>
            <a:schemeClr val="tx1"/>
          </a:solidFill>
        </a:defRPr>
      </a:lvl2pPr>
    </p:bodyStyle>
    <p:otherStyle/>
  </p:txStyles>
</p:sldMaster>
</file>

<file path=ppt/slides/_rels/slide1.xml.rels><?xml version="1.0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3" Type="http://schemas.openxmlformats.org/officeDocument/2006/relationships/notesSlide" Target="../notesSlides/notesSlide1.xml"/>
</Relationships>
</file>

<file path=ppt/slides/_rels/slide2.xml.rels><?xml version="1.0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1.xml"/>
</Relationships>
</file>

<file path=ppt/slides/_rels/slide3.xml.rels><?xml version="1.0"?>
<Relationships xmlns="http://schemas.openxmlformats.org/package/2006/relationships">
<Relationship Id="rId1" Type="http://schemas.openxmlformats.org/officeDocument/2006/relationships/slideLayout" Target="../slideLayouts/slideLayout1.xml"/>
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Quarterly Review</a:t>
            </a:r>
          </a:p>
        </p:txBody>
      </p:sp>
      <p:sp>
        <p:nvSpPr>
          <p:cNvPr id="3" name="Body 1"/>
          <p:cNvSpPr/>
          <p:nvPr>
            <p:ph type="body" idx="1"/>
          </p:nvPr>
        </p:nvSpPr>
        <p:spPr/>
        <p:txBody>
          <a:bodyPr/>
          <a:lstStyle/>
          <a:p>
            <a:r>
              <a:t>Revenue grew steadily</a:t>
            </a:r>
          </a:p>
          <a:p>
            <a:pPr lvl="1"/>
            <a:r>
              <a:t>EMEA led the growth</a:t>
            </a:r>
          </a:p>
          <a:p>
            <a:r>
              <a:rPr b="1">
                <a:solidFill>
                  <a:schemeClr val="accent2"/>
                </a:solidFill>
              </a:rPr>
              <a:t>Costs held flat</a:t>
            </a:r>
          </a:p>
        </p:txBody>
      </p:sp>
      <p:sp>
        <p:nvSpPr>
          <p:cNvPr id="4" name="Badge"/>
          <p:cNvSpPr/>
          <p:nvPr/>
        </p:nvSpPr>
        <p:spPr>
          <a:xfrm rot="2700000">
            <a:off x="9906000" y="4114800"/>
            <a:ext cx="1524000" cy="914400"/>
          </a:xfrm>
          <a:prstGeom prst="roundRect"/>
          <a:solidFill>
            <a:schemeClr val="accent1">
              <a:lumMod val="75000"/>
            </a:schemeClr>
          </a:solidFill>
          <a:ln w="19050">
            <a:solidFill>
              <a:srgbClr val="123456"/>
            </a:solidFill>
          </a:ln>
        </p:spPr>
        <p:txBody>
          <a:bodyPr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NEW</a:t>
            </a:r>
          </a:p>
        </p:txBody>
      </p:sp>
      <p:pic>
        <p:nvPicPr>
          <p:cNvPr id="5" name="Logo"/>
          <p:cNvPicPr/>
          <p:nvPr/>
        </p:nvPicPr>
        <p:blipFill>
          <a:blip r:embed="rId2"/>
          <a:stretch/>
        </p:blipFill>
        <p:spPr>
          <a:xfrm>
            <a:off x="457200" y="5638800"/>
            <a:ext cx="914400" cy="914400"/>
          </a:xfrm>
        </p:spPr>
      </p:pic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graphicFrame>
        <p:nvGraphicFramePr>
          <p:cNvPr id="3" name="Table"/>
          <p:cNvGraphicFramePr/>
          <p:nvPr/>
        </p:nvGraphicFramePr>
        <p:xfrm>
          <a:off x="838200" y="1825625"/>
          <a:ext cx="4572000" cy="1371600"/>
        </p:xfrm>
        <a:graphic>
          <a:graphicData uri="http://schemas.openxmlformats.org/drawingml/2006/table">
            <a:tbl>
              <a:tblGrid>
                <a:gridCol w="2286000"/>
                <a:gridCol w="2286000"/>
              </a:tblGrid>
              <a:tr h="457200">
                <a:tc>
                  <a:txBody>
                    <a:bodyPr/>
                    <a:p>
                      <a:r>
                        <a:rPr b="1"/>
                        <a:t>Region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r>
                        <a:rPr b="1"/>
                        <a:t>Share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t>44%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"/>
          <p:cNvGraphicFramePr/>
          <p:nvPr/>
        </p:nvGraphicFramePr>
        <p:xfrm>
          <a:off x="6096000" y="182562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lstStyle/>
          <a:p>
            <a:r>
              <a:t>HIDDEN SLIDE</a:t>
            </a:r>
          </a:p>
        </p:txBody>
      </p:sp>
    </p:spTree>
  </p:cSld>
</p:sld>
</file>

<file path=ppt/theme/theme1.xml><?xml version="1.0" encoding="utf-8"?>
<a:theme xmlns:a="http://schemas.openxmlformats.org/drawingml/2006/main" name="fixture">
  <a:themeElements>
    <a:clrScheme name="fx">
      <a:dk1>
        <a:srgbClr val="1A2B3C"/>
      </a:dk1>
      <a:lt1>
        <a:srgbClr val="FDFBF7"/>
      </a:lt1>
      <a:dk2>
        <a:srgbClr val="30404F"/>
      </a:dk2>
      <a:lt2>
        <a:srgbClr val="EEE9E0"/>
      </a:lt2>
      <a:accent1>
        <a:srgbClr val="2E6FBA"/>
      </a:accent1>
      <a:accent2>
        <a:srgbClr val="C05330"/>
      </a:accent2>
      <a:accent3>
        <a:srgbClr val="6F9E4C"/>
      </a:accent3>
      <a:accent4>
        <a:srgbClr val="8A5FA8"/>
      </a:accent4>
      <a:accent5>
        <a:srgbClr val="2FA3A0"/>
      </a:accent5>
      <a:accent6>
        <a:srgbClr val="C7A230"/>
      </a:accent6>
      <a:hlink>
        <a:srgbClr val="2E6FBA"/>
      </a:hlink>
      <a:folHlink>
        <a:srgbClr val="8A5FA8"/>
      </a:folHlink>
    </a:clrScheme>
    <a:fontScheme name="fx">
      <a:majorFont>
        <a:latin typeface="Georgia"/>
      </a:majorFont>
      <a:minorFont>
        <a:latin typeface="Verdana"/>
      </a:minorFont>
    </a:fontScheme>
    <a:fmtScheme name="fx">
      <a:fillStyleLst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